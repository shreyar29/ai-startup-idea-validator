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FFFFF"/>
                </a:solidFill>
              </a:defRPr>
            </a:pPr>
            <a:r>
              <a:t>Social network exclusively for left-handed pet owners to share specific tips and tricks.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59E0B"/>
                </a:solidFill>
              </a:defRPr>
            </a:pPr>
            <a:r>
              <a:t>Confidential Investor Pitch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59E0B"/>
                </a:solidFill>
              </a:defRPr>
            </a:pPr>
            <a:r>
              <a:t>Why does this need to exist?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B4BED2"/>
                </a:solidFill>
              </a:defRPr>
            </a:pPr>
            <a:r>
              <a:t>Inefficient legacy processes causing time and money loss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FFFFF"/>
                </a:solidFill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59E0B"/>
                </a:solidFill>
              </a:defRPr>
            </a:pPr>
            <a:r>
              <a:t>A rapidly expanding market ripe for disruption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3200400" cy="1828800"/>
          </a:xfrm>
          <a:prstGeom prst="roundRect">
            <a:avLst/>
          </a:prstGeom>
          <a:solidFill>
            <a:srgbClr val="141E32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200">
                <a:solidFill>
                  <a:srgbClr val="FFFFFF"/>
                </a:solidFill>
              </a:defRPr>
            </a:pPr>
            <a:r>
              <a:t>2025 t</a:t>
            </a:r>
          </a:p>
          <a:p>
            <a:pPr algn="ctr">
              <a:defRPr sz="1400">
                <a:solidFill>
                  <a:srgbClr val="B4BED2"/>
                </a:solidFill>
              </a:defRPr>
            </a:pPr>
            <a:r>
              <a:t>Total Addressable Market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286000"/>
            <a:ext cx="3200400" cy="1828800"/>
          </a:xfrm>
          <a:prstGeom prst="roundRect">
            <a:avLst/>
          </a:prstGeom>
          <a:solidFill>
            <a:srgbClr val="141E32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200">
                <a:solidFill>
                  <a:srgbClr val="FFFFFF"/>
                </a:solidFill>
              </a:defRPr>
            </a:pPr>
            <a:r>
              <a:t>11.25%</a:t>
            </a:r>
          </a:p>
          <a:p>
            <a:pPr algn="ctr">
              <a:defRPr sz="1400">
                <a:solidFill>
                  <a:srgbClr val="B4BED2"/>
                </a:solidFill>
              </a:defRPr>
            </a:pPr>
            <a:r>
              <a:t>Expected Growth 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286000"/>
            <a:ext cx="3200400" cy="1828800"/>
          </a:xfrm>
          <a:prstGeom prst="roundRect">
            <a:avLst/>
          </a:prstGeom>
          <a:solidFill>
            <a:srgbClr val="141E32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200">
                <a:solidFill>
                  <a:srgbClr val="FFFFFF"/>
                </a:solidFill>
              </a:defRPr>
            </a:pPr>
            <a:r>
              <a:t>High</a:t>
            </a:r>
          </a:p>
          <a:p>
            <a:pPr algn="ctr">
              <a:defRPr sz="1400">
                <a:solidFill>
                  <a:srgbClr val="B4BED2"/>
                </a:solidFill>
              </a:defRPr>
            </a:pPr>
            <a:r>
              <a:t>Market Urgency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FFFFF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59E0B"/>
                </a:solidFill>
              </a:defRPr>
            </a:pPr>
            <a:r>
              <a:t>A paradigm shift in how the problem is solved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B4BED2"/>
                </a:solidFill>
              </a:defRPr>
            </a:pPr>
            <a:r>
              <a:t>Purpose-built to address core pain points directly</a:t>
            </a:r>
          </a:p>
          <a:p>
            <a:pPr>
              <a:spcAft>
                <a:spcPts val="1400"/>
              </a:spcAft>
              <a:defRPr sz="2400">
                <a:solidFill>
                  <a:srgbClr val="B4BED2"/>
                </a:solidFill>
              </a:defRPr>
            </a:pPr>
            <a:r>
              <a:t>Automates manual workflows to 10x productivity</a:t>
            </a:r>
          </a:p>
          <a:p>
            <a:pPr>
              <a:spcAft>
                <a:spcPts val="1400"/>
              </a:spcAft>
              <a:defRPr sz="2400">
                <a:solidFill>
                  <a:srgbClr val="B4BED2"/>
                </a:solidFill>
              </a:defRPr>
            </a:pPr>
            <a:r>
              <a:t>Seamless integration into existing user habits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FFFFF"/>
                </a:solidFill>
              </a:defRPr>
            </a:pPr>
            <a:r>
              <a:t>The Product (MVP)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59E0B"/>
                </a:solidFill>
              </a:defRPr>
            </a:pPr>
            <a:r>
              <a:t>Core value delivered on day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B4BED2"/>
                </a:solidFill>
              </a:defRPr>
            </a:pPr>
            <a:r>
              <a:t>Left-handed Pet Care Feed</a:t>
            </a:r>
          </a:p>
          <a:p>
            <a:pPr>
              <a:spcAft>
                <a:spcPts val="1400"/>
              </a:spcAft>
              <a:defRPr sz="2400">
                <a:solidFill>
                  <a:srgbClr val="B4BED2"/>
                </a:solidFill>
              </a:defRPr>
            </a:pPr>
            <a:r>
              <a:t>Ergonomic Product Sharing &amp; Recommendations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FFFFF"/>
                </a:solidFill>
              </a:defRPr>
            </a:pPr>
            <a:r>
              <a:t>Why Now?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59E0B"/>
                </a:solidFill>
              </a:defRPr>
            </a:pPr>
            <a:r>
              <a:t>Timing is everything in venture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B4BED2"/>
                </a:solidFill>
              </a:defRPr>
            </a:pPr>
            <a:r>
              <a:t>### key market trends &amp; highlights</a:t>
            </a:r>
            <a:br/>
            <a:br/>
            <a:r>
              <a:t>the social networking market is evolving towards niche platforms and enhanced user privacy, driven by technological advancements and changing user preferences</a:t>
            </a:r>
          </a:p>
          <a:p>
            <a:pPr>
              <a:spcAft>
                <a:spcPts val="1400"/>
              </a:spcAft>
              <a:defRPr sz="2400">
                <a:solidFill>
                  <a:srgbClr val="B4BED2"/>
                </a:solidFill>
              </a:defRPr>
            </a:pPr>
            <a:r>
              <a:t>The rise of niche platforms is reshaping user engagement, particularly in north america, where personalization is increasingly valued</a:t>
            </a:r>
          </a:p>
          <a:p>
            <a:pPr>
              <a:spcAft>
                <a:spcPts val="1400"/>
              </a:spcAft>
              <a:defRPr sz="2400">
                <a:solidFill>
                  <a:srgbClr val="B4BED2"/>
                </a:solidFill>
              </a:defRPr>
            </a:pPr>
            <a:r>
              <a:t>In asia-pacific, the focus on privacy and data security is becoming paramount as users demand greater control over their information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FFFFF"/>
                </a:solidFill>
              </a:defRPr>
            </a:pPr>
            <a:r>
              <a:t>TAM / SAM / SOM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59E0B"/>
                </a:solidFill>
              </a:defRPr>
            </a:pPr>
            <a:r>
              <a:t>Bottom-up market sizing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3200400" cy="1828800"/>
          </a:xfrm>
          <a:prstGeom prst="roundRect">
            <a:avLst/>
          </a:prstGeom>
          <a:solidFill>
            <a:srgbClr val="141E32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200">
                <a:solidFill>
                  <a:srgbClr val="FFFFFF"/>
                </a:solidFill>
              </a:defRPr>
            </a:pPr>
            <a:r>
              <a:t>2025 t</a:t>
            </a:r>
          </a:p>
          <a:p>
            <a:pPr algn="ctr">
              <a:defRPr sz="1400">
                <a:solidFill>
                  <a:srgbClr val="B4BED2"/>
                </a:solidFill>
              </a:defRPr>
            </a:pPr>
            <a:r>
              <a:t>TAM (Total Market)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286000"/>
            <a:ext cx="3200400" cy="1828800"/>
          </a:xfrm>
          <a:prstGeom prst="roundRect">
            <a:avLst/>
          </a:prstGeom>
          <a:solidFill>
            <a:srgbClr val="141E32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200">
                <a:solidFill>
                  <a:srgbClr val="FFFFFF"/>
                </a:solidFill>
              </a:defRPr>
            </a:pPr>
            <a:r>
              <a:t>30% of TAM</a:t>
            </a:r>
          </a:p>
          <a:p>
            <a:pPr algn="ctr">
              <a:defRPr sz="1400">
                <a:solidFill>
                  <a:srgbClr val="B4BED2"/>
                </a:solidFill>
              </a:defRPr>
            </a:pPr>
            <a:r>
              <a:t>SAM (Serviceable Market)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286000"/>
            <a:ext cx="3200400" cy="1828800"/>
          </a:xfrm>
          <a:prstGeom prst="roundRect">
            <a:avLst/>
          </a:prstGeom>
          <a:solidFill>
            <a:srgbClr val="141E32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200">
                <a:solidFill>
                  <a:srgbClr val="FFFFFF"/>
                </a:solidFill>
              </a:defRPr>
            </a:pPr>
            <a:r>
              <a:t>1-5% of SAM</a:t>
            </a:r>
          </a:p>
          <a:p>
            <a:pPr algn="ctr">
              <a:defRPr sz="1400">
                <a:solidFill>
                  <a:srgbClr val="B4BED2"/>
                </a:solidFill>
              </a:defRPr>
            </a:pPr>
            <a:r>
              <a:t>SOM (Obtainable Market)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FFFFF"/>
                </a:solidFill>
              </a:defRPr>
            </a:pPr>
            <a:r>
              <a:t>Target Customer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59E0B"/>
                </a:solidFill>
              </a:defRPr>
            </a:pPr>
            <a:r>
              <a:t>Who feels the pain most acutely?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B4BED2"/>
                </a:solidFill>
              </a:defRPr>
            </a:pPr>
            <a:r>
              <a:t>Nonfans</a:t>
            </a:r>
          </a:p>
          <a:p>
            <a:pPr>
              <a:spcAft>
                <a:spcPts val="1400"/>
              </a:spcAft>
              <a:defRPr sz="2400">
                <a:solidFill>
                  <a:srgbClr val="B4BED2"/>
                </a:solidFill>
              </a:defRPr>
            </a:pPr>
            <a:r>
              <a:t>The quarter</a:t>
            </a:r>
          </a:p>
          <a:p>
            <a:pPr>
              <a:spcAft>
                <a:spcPts val="1400"/>
              </a:spcAft>
              <a:defRPr sz="2400">
                <a:solidFill>
                  <a:srgbClr val="B4BED2"/>
                </a:solidFill>
              </a:defRPr>
            </a:pPr>
            <a:r>
              <a:t>Local pet owners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FFFFF"/>
                </a:solidFill>
              </a:defRPr>
            </a:pPr>
            <a: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59E0B"/>
                </a:solidFill>
              </a:defRPr>
            </a:pPr>
            <a:r>
              <a:t>How we map against incumbents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B4BED2"/>
                </a:solidFill>
              </a:defRPr>
            </a:pPr>
            <a:r>
              <a:t>vs. Status Quo: Faster and more automated</a:t>
            </a:r>
          </a:p>
          <a:p>
            <a:pPr>
              <a:spcAft>
                <a:spcPts val="1400"/>
              </a:spcAft>
              <a:defRPr sz="2400">
                <a:solidFill>
                  <a:srgbClr val="B4BED2"/>
                </a:solidFill>
              </a:defRPr>
            </a:pPr>
            <a:r>
              <a:t>vs. Point Solutions: Unified platform experience</a:t>
            </a:r>
          </a:p>
          <a:p>
            <a:pPr>
              <a:spcAft>
                <a:spcPts val="1400"/>
              </a:spcAft>
              <a:defRPr sz="2400">
                <a:solidFill>
                  <a:srgbClr val="B4BED2"/>
                </a:solidFill>
              </a:defRPr>
            </a:pPr>
            <a:r>
              <a:t>vs. Legacy Enterprise: Modern, cost-effective, and agile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FFFFF"/>
                </a:solidFill>
              </a:defRPr>
            </a:pPr>
            <a:r>
              <a:t>Our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59E0B"/>
                </a:solidFill>
              </a:defRPr>
            </a:pPr>
            <a:r>
              <a:t>Sustainable 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B4BED2"/>
                </a:solidFill>
              </a:defRPr>
            </a:pPr>
            <a:r>
              <a:t>Leveraging automation to eliminate friction.</a:t>
            </a:r>
          </a:p>
          <a:p>
            <a:pPr>
              <a:spcAft>
                <a:spcPts val="1400"/>
              </a:spcAft>
              <a:defRPr sz="2400">
                <a:solidFill>
                  <a:srgbClr val="B4BED2"/>
                </a:solidFill>
              </a:defRPr>
            </a:pPr>
            <a:r>
              <a:t>First-mover advantage in a niche vertical</a:t>
            </a:r>
          </a:p>
          <a:p>
            <a:pPr>
              <a:spcAft>
                <a:spcPts val="1400"/>
              </a:spcAft>
              <a:defRPr sz="2400">
                <a:solidFill>
                  <a:srgbClr val="B4BED2"/>
                </a:solidFill>
              </a:defRPr>
            </a:pPr>
            <a:r>
              <a:t>Proprietary data aggregation loop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FFFFF"/>
                </a:solidFill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59E0B"/>
                </a:solidFill>
              </a:defRPr>
            </a:pPr>
            <a:r>
              <a:t>How we make money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B4BED2"/>
                </a:solidFill>
              </a:defRPr>
            </a:pPr>
            <a:r>
              <a:t>Freemium</a:t>
            </a:r>
          </a:p>
          <a:p>
            <a:pPr>
              <a:spcAft>
                <a:spcPts val="1400"/>
              </a:spcAft>
              <a:defRPr sz="2400">
                <a:solidFill>
                  <a:srgbClr val="B4BED2"/>
                </a:solidFill>
              </a:defRPr>
            </a:pPr>
            <a:r>
              <a:t>Predictable recurring revenue (ARR)</a:t>
            </a:r>
          </a:p>
          <a:p>
            <a:pPr>
              <a:spcAft>
                <a:spcPts val="1400"/>
              </a:spcAft>
              <a:defRPr sz="2400">
                <a:solidFill>
                  <a:srgbClr val="B4BED2"/>
                </a:solidFill>
              </a:defRPr>
            </a:pPr>
            <a:r>
              <a:t>High gross margins typical of SaaS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FFFFF"/>
                </a:solidFill>
              </a:defRPr>
            </a:pPr>
            <a: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59E0B"/>
                </a:solidFill>
              </a:defRPr>
            </a:pPr>
            <a:r>
              <a:t>Acquiring our first 1,000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B4BED2"/>
                </a:solidFill>
              </a:defRPr>
            </a:pPr>
            <a:r>
              <a:t>Niche online communities and left-handed interest groups</a:t>
            </a:r>
          </a:p>
          <a:p>
            <a:pPr>
              <a:spcAft>
                <a:spcPts val="1400"/>
              </a:spcAft>
              <a:defRPr sz="2400">
                <a:solidFill>
                  <a:srgbClr val="B4BED2"/>
                </a:solidFill>
              </a:defRPr>
            </a:pPr>
            <a:r>
              <a:t>Social media content targeting lefty ergonomics</a:t>
            </a:r>
          </a:p>
          <a:p>
            <a:pPr>
              <a:spcAft>
                <a:spcPts val="1400"/>
              </a:spcAft>
              <a:defRPr sz="2400">
                <a:solidFill>
                  <a:srgbClr val="B4BED2"/>
                </a:solidFill>
              </a:defRPr>
            </a:pPr>
            <a:r>
              <a:t>Affiliate partnerships with left-handed product brands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FFFFF"/>
                </a:solidFill>
              </a:defRPr>
            </a:pPr>
            <a:r>
              <a:t>Validation &amp; 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59E0B"/>
                </a:solidFill>
              </a:defRPr>
            </a:pPr>
            <a:r>
              <a:t>AI-driven viability scoring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3200400" cy="1828800"/>
          </a:xfrm>
          <a:prstGeom prst="roundRect">
            <a:avLst/>
          </a:prstGeom>
          <a:solidFill>
            <a:srgbClr val="141E32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200">
                <a:solidFill>
                  <a:srgbClr val="FFFFFF"/>
                </a:solidFill>
              </a:defRPr>
            </a:pPr>
            <a:r>
              <a:t>67/100</a:t>
            </a:r>
          </a:p>
          <a:p>
            <a:pPr algn="ctr">
              <a:defRPr sz="1400">
                <a:solidFill>
                  <a:srgbClr val="B4BED2"/>
                </a:solidFill>
              </a:defRPr>
            </a:pPr>
            <a:r>
              <a:t>AI Validation Score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286000"/>
            <a:ext cx="3200400" cy="1828800"/>
          </a:xfrm>
          <a:prstGeom prst="roundRect">
            <a:avLst/>
          </a:prstGeom>
          <a:solidFill>
            <a:srgbClr val="141E32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200">
                <a:solidFill>
                  <a:srgbClr val="FFFFFF"/>
                </a:solidFill>
              </a:defRPr>
            </a:pPr>
            <a:r>
              <a:t>Validated</a:t>
            </a:r>
          </a:p>
          <a:p>
            <a:pPr algn="ctr">
              <a:defRPr sz="1400">
                <a:solidFill>
                  <a:srgbClr val="B4BED2"/>
                </a:solidFill>
              </a:defRPr>
            </a:pPr>
            <a:r>
              <a:t>Problem-Solution Fit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286000"/>
            <a:ext cx="3200400" cy="1828800"/>
          </a:xfrm>
          <a:prstGeom prst="roundRect">
            <a:avLst/>
          </a:prstGeom>
          <a:solidFill>
            <a:srgbClr val="141E32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200">
                <a:solidFill>
                  <a:srgbClr val="FFFFFF"/>
                </a:solidFill>
              </a:defRPr>
            </a:pPr>
            <a:r>
              <a:t>High</a:t>
            </a:r>
          </a:p>
          <a:p>
            <a:pPr algn="ctr">
              <a:defRPr sz="1400">
                <a:solidFill>
                  <a:srgbClr val="B4BED2"/>
                </a:solidFill>
              </a:defRPr>
            </a:pPr>
            <a:r>
              <a:t>AI Confidence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FFFFF"/>
                </a:solidFill>
              </a:defRPr>
            </a:pPr>
            <a:r>
              <a:t>Product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59E0B"/>
                </a:solidFill>
              </a:defRPr>
            </a:pPr>
            <a:r>
              <a:t>The next 12-18 months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3200400" cy="1828800"/>
          </a:xfrm>
          <a:prstGeom prst="roundRect">
            <a:avLst/>
          </a:prstGeom>
          <a:solidFill>
            <a:srgbClr val="141E32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200">
                <a:solidFill>
                  <a:srgbClr val="FFFFFF"/>
                </a:solidFill>
              </a:defRPr>
            </a:pPr>
            <a:r>
              <a:t>Q1</a:t>
            </a:r>
          </a:p>
          <a:p>
            <a:pPr algn="ctr">
              <a:defRPr sz="1400">
                <a:solidFill>
                  <a:srgbClr val="B4BED2"/>
                </a:solidFill>
              </a:defRPr>
            </a:pPr>
            <a:r>
              <a:t>MVP Launch &amp; Core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286000"/>
            <a:ext cx="3200400" cy="1828800"/>
          </a:xfrm>
          <a:prstGeom prst="roundRect">
            <a:avLst/>
          </a:prstGeom>
          <a:solidFill>
            <a:srgbClr val="141E32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200">
                <a:solidFill>
                  <a:srgbClr val="FFFFFF"/>
                </a:solidFill>
              </a:defRPr>
            </a:pPr>
            <a:r>
              <a:t>Q2-Q3</a:t>
            </a:r>
          </a:p>
          <a:p>
            <a:pPr algn="ctr">
              <a:defRPr sz="1400">
                <a:solidFill>
                  <a:srgbClr val="B4BED2"/>
                </a:solidFill>
              </a:defRPr>
            </a:pPr>
            <a:r>
              <a:t>Expansion of Feature 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286000"/>
            <a:ext cx="3200400" cy="1828800"/>
          </a:xfrm>
          <a:prstGeom prst="roundRect">
            <a:avLst/>
          </a:prstGeom>
          <a:solidFill>
            <a:srgbClr val="141E32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200">
                <a:solidFill>
                  <a:srgbClr val="FFFFFF"/>
                </a:solidFill>
              </a:defRPr>
            </a:pPr>
            <a:r>
              <a:t>Q4</a:t>
            </a:r>
          </a:p>
          <a:p>
            <a:pPr algn="ctr">
              <a:defRPr sz="1400">
                <a:solidFill>
                  <a:srgbClr val="B4BED2"/>
                </a:solidFill>
              </a:defRPr>
            </a:pPr>
            <a:r>
              <a:t>Scale &amp; Enterprise Tier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FFFFF"/>
                </a:solidFill>
              </a:defRPr>
            </a:pPr>
            <a:r>
              <a:t>Financial Horizon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59E0B"/>
                </a:solidFill>
              </a:defRPr>
            </a:pPr>
            <a:r>
              <a:t>Path to profitability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B4BED2"/>
                </a:solidFill>
              </a:defRPr>
            </a:pPr>
            <a:r>
              <a:t>Year 1: Focus on product-market fit and early MRR</a:t>
            </a:r>
          </a:p>
          <a:p>
            <a:pPr>
              <a:spcAft>
                <a:spcPts val="1400"/>
              </a:spcAft>
              <a:defRPr sz="2400">
                <a:solidFill>
                  <a:srgbClr val="B4BED2"/>
                </a:solidFill>
              </a:defRPr>
            </a:pPr>
            <a:r>
              <a:t>Year 2: Scalable acquisition and channel expansion</a:t>
            </a:r>
          </a:p>
          <a:p>
            <a:pPr>
              <a:spcAft>
                <a:spcPts val="1400"/>
              </a:spcAft>
              <a:defRPr sz="2400">
                <a:solidFill>
                  <a:srgbClr val="B4BED2"/>
                </a:solidFill>
              </a:defRPr>
            </a:pPr>
            <a:r>
              <a:t>Year 3: Hitting inflection point for Series A/B metrics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FFFFF"/>
                </a:solidFill>
              </a:defRPr>
            </a:pPr>
            <a:r>
              <a:t>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59E0B"/>
                </a:solidFill>
              </a:defRPr>
            </a:pPr>
            <a:r>
              <a:t>Why we are the right people to build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B4BED2"/>
                </a:solidFill>
              </a:defRPr>
            </a:pPr>
            <a:r>
              <a:t>Deep domain expertise in the target industry</a:t>
            </a:r>
          </a:p>
          <a:p>
            <a:pPr>
              <a:spcAft>
                <a:spcPts val="1400"/>
              </a:spcAft>
              <a:defRPr sz="2400">
                <a:solidFill>
                  <a:srgbClr val="B4BED2"/>
                </a:solidFill>
              </a:defRPr>
            </a:pPr>
            <a:r>
              <a:t>Technical capabilities to execute the MVP rapidly</a:t>
            </a:r>
          </a:p>
          <a:p>
            <a:pPr>
              <a:spcAft>
                <a:spcPts val="1400"/>
              </a:spcAft>
              <a:defRPr sz="2400">
                <a:solidFill>
                  <a:srgbClr val="B4BED2"/>
                </a:solidFill>
              </a:defRPr>
            </a:pPr>
            <a:r>
              <a:t>Obsession with solving the customer's problem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FFFFF"/>
                </a:solidFill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59E0B"/>
                </a:solidFill>
              </a:defRPr>
            </a:pPr>
            <a:r>
              <a:t>Fueling the next stage of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B4BED2"/>
                </a:solidFill>
              </a:defRPr>
            </a:pPr>
            <a:r>
              <a:t>Raising Pre-Seed / Seed round</a:t>
            </a:r>
          </a:p>
          <a:p>
            <a:pPr>
              <a:spcAft>
                <a:spcPts val="1400"/>
              </a:spcAft>
              <a:defRPr sz="2400">
                <a:solidFill>
                  <a:srgbClr val="B4BED2"/>
                </a:solidFill>
              </a:defRPr>
            </a:pPr>
            <a:r>
              <a:t>Capital allocation: 50% Engineering, 30% GTM/Sales, 20% Operations</a:t>
            </a:r>
          </a:p>
          <a:p>
            <a:pPr>
              <a:spcAft>
                <a:spcPts val="1400"/>
              </a:spcAft>
              <a:defRPr sz="2400">
                <a:solidFill>
                  <a:srgbClr val="B4BED2"/>
                </a:solidFill>
              </a:defRPr>
            </a:pPr>
            <a:r>
              <a:t>Milestone: Achieve $1M ARR within 18 months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FFFFF"/>
                </a:solidFill>
              </a:defRPr>
            </a:pPr>
            <a:r>
              <a:t>Join Us.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59E0B"/>
                </a:solidFill>
              </a:defRPr>
            </a:pPr>
            <a:r>
              <a:t>Moderate Opportunity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